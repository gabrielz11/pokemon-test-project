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2.xml" ContentType="application/vnd.openxmlformats-officedocument.drawingml.chart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4" r:id="rId7"/>
    <p:sldId id="265" r:id="rId8"/>
    <p:sldId id="266" r:id="rId9"/>
    <p:sldId id="261" r:id="rId10"/>
    <p:sldId id="262" r:id="rId11"/>
    <p:sldId id="263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pt-BR" sz="1800" b="0" i="0" u="none" strike="noStrike">
                <a:solidFill>
                  <a:srgbClr val="000000"/>
                </a:solidFill>
                <a:latin typeface="Arial"/>
              </a:rPr>
              <a:t>Antes vs. Depois (Paginação)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Antes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RPS</c:v>
                </c:pt>
                <c:pt idx="1">
                  <c:v>P95 (ms)</c:v>
                </c:pt>
                <c:pt idx="2">
                  <c:v>Falhas (%)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120</c:v>
                </c:pt>
                <c:pt idx="2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D17-45B8-8AA2-2F664787048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Depois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RPS</c:v>
                </c:pt>
                <c:pt idx="1">
                  <c:v>P95 (ms)</c:v>
                </c:pt>
                <c:pt idx="2">
                  <c:v>Falhas (%)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780</c:v>
                </c:pt>
                <c:pt idx="1">
                  <c:v>53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D17-45B8-8AA2-2F664787048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RPS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FD8F-46D8-8358-DAEDC48812C4}"/>
              </c:ext>
            </c:extLst>
          </c:dPt>
          <c:dPt>
            <c:idx val="1"/>
            <c:invertIfNegative val="0"/>
            <c:bubble3D val="0"/>
            <c:spPr>
              <a:solidFill>
                <a:srgbClr val="0D94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FD8F-46D8-8358-DAEDC48812C4}"/>
              </c:ext>
            </c:extLst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FD8F-46D8-8358-DAEDC48812C4}"/>
              </c:ext>
            </c:extLst>
          </c:dPt>
          <c:dPt>
            <c:idx val="3"/>
            <c:invertIfNegative val="0"/>
            <c:bubble3D val="0"/>
            <c:spPr>
              <a:solidFill>
                <a:srgbClr val="7C3AE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FD8F-46D8-8358-DAEDC48812C4}"/>
              </c:ext>
            </c:extLst>
          </c:dPt>
          <c:dPt>
            <c:idx val="4"/>
            <c:invertIfNegative val="0"/>
            <c:bubble3D val="0"/>
            <c:spPr>
              <a:solidFill>
                <a:srgbClr val="0369A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FD8F-46D8-8358-DAEDC48812C4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Sem otimização</c:v>
                </c:pt>
                <c:pt idx="1">
                  <c:v>Paginação</c:v>
                </c:pt>
                <c:pt idx="2">
                  <c:v>+ Cache</c:v>
                </c:pt>
                <c:pt idx="3">
                  <c:v>+ Índices</c:v>
                </c:pt>
                <c:pt idx="4">
                  <c:v>Otimizado Final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780</c:v>
                </c:pt>
                <c:pt idx="2">
                  <c:v>1400</c:v>
                </c:pt>
                <c:pt idx="3">
                  <c:v>1499</c:v>
                </c:pt>
                <c:pt idx="4">
                  <c:v>2481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FD8F-46D8-8358-DAEDC48812C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00"/>
        </c:scaling>
        <c:delete val="0"/>
        <c:axPos val="l"/>
        <c:majorGridlines>
          <c:spPr>
            <a:ln w="6350" cap="flat">
              <a:solidFill>
                <a:srgbClr val="33415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1E293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79723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8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463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de Performance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21945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Locust + Node.js API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Identificação de gargalos · Paginação · Cache em Memória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57200" y="3566160"/>
            <a:ext cx="8229600" cy="0"/>
          </a:xfrm>
          <a:prstGeom prst="line">
            <a:avLst/>
          </a:prstGeom>
          <a:noFill/>
          <a:ln w="19050">
            <a:solidFill>
              <a:srgbClr val="0D948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" y="3749040"/>
            <a:ext cx="1554480" cy="347472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374904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TypeORM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148840" y="3749040"/>
            <a:ext cx="1554480" cy="347472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148840" y="374904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840480" y="3749040"/>
            <a:ext cx="1554480" cy="347472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840480" y="374904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Locust 2.44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532120" y="3749040"/>
            <a:ext cx="1554480" cy="347472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532120" y="374904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223760" y="3749040"/>
            <a:ext cx="1554480" cy="347472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223760" y="374904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</a:t>
            </a:r>
            <a:endParaRPr lang="en-US" sz="1100" dirty="0"/>
          </a:p>
        </p:txBody>
      </p:sp>
      <p:sp>
        <p:nvSpPr>
          <p:cNvPr id="18" name="Text 2">
            <a:extLst>
              <a:ext uri="{FF2B5EF4-FFF2-40B4-BE49-F238E27FC236}">
                <a16:creationId xmlns:a16="http://schemas.microsoft.com/office/drawing/2014/main" id="{F8509F29-A491-F1BC-6A07-6B273316ABD9}"/>
              </a:ext>
            </a:extLst>
          </p:cNvPr>
          <p:cNvSpPr/>
          <p:nvPr/>
        </p:nvSpPr>
        <p:spPr>
          <a:xfrm>
            <a:off x="372292" y="4136571"/>
            <a:ext cx="7791994" cy="9165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 Aires; 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João Victor;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Fizemos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960120"/>
            <a:ext cx="2743200" cy="1828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28600" y="960120"/>
            <a:ext cx="2743200" cy="4389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9888" y="1024128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14173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Popular o Banco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320040" y="1810512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100.000 Pokémons inseridos via Seed para criar um cenário realista de carga.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3154680" y="960120"/>
            <a:ext cx="2743200" cy="1828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154680" y="960120"/>
            <a:ext cx="2743200" cy="43891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5968" y="1024128"/>
            <a:ext cx="292608" cy="2926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200400" y="14173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Teste Baseline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3246120" y="1810512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Locust com 100 usuários simultâneos. API travou com 100% de falhas.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6080760" y="960120"/>
            <a:ext cx="2743200" cy="1828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080760" y="960120"/>
            <a:ext cx="2743200" cy="43891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2048" y="1024128"/>
            <a:ext cx="292608" cy="2926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126480" y="14173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Paginação (take/skip)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6172200" y="1810512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Limitamos a 50 itens por página. Falhas caíram a 0% com ~780 RPS.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228600" y="2971800"/>
            <a:ext cx="2743200" cy="1828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228600" y="2971800"/>
            <a:ext cx="2743200" cy="43891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89888" y="3035808"/>
            <a:ext cx="292608" cy="29260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274320" y="34290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Cache em Memória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320040" y="3822192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Map&lt;&gt; salva resultado por 10s. RPS saltou para ~1.400 e resposta min. 2ms.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3154680" y="2971800"/>
            <a:ext cx="2743200" cy="1828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3154680" y="2971800"/>
            <a:ext cx="2743200" cy="43891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15968" y="3035808"/>
            <a:ext cx="292608" cy="29260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3200400" y="34290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Índices no Banco</a:t>
            </a:r>
            <a:endParaRPr lang="en-US" sz="1100" dirty="0"/>
          </a:p>
        </p:txBody>
      </p:sp>
      <p:sp>
        <p:nvSpPr>
          <p:cNvPr id="28" name="Text 21"/>
          <p:cNvSpPr/>
          <p:nvPr/>
        </p:nvSpPr>
        <p:spPr>
          <a:xfrm>
            <a:off x="3246120" y="3822192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@Index() em name e type. Full Table Scan O(N) → B-Tree O(log N). Busca de 500ms para 0.1ms.</a:t>
            </a:r>
            <a:endParaRPr lang="en-US" sz="950" dirty="0"/>
          </a:p>
        </p:txBody>
      </p:sp>
      <p:sp>
        <p:nvSpPr>
          <p:cNvPr id="29" name="Shape 22"/>
          <p:cNvSpPr/>
          <p:nvPr/>
        </p:nvSpPr>
        <p:spPr>
          <a:xfrm>
            <a:off x="6080760" y="2971800"/>
            <a:ext cx="2743200" cy="1828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080760" y="2971800"/>
            <a:ext cx="2743200" cy="438912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42048" y="3035808"/>
            <a:ext cx="292608" cy="292608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126480" y="34290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GZIP + FastHttpUser</a:t>
            </a:r>
            <a:endParaRPr lang="en-US" sz="1100" dirty="0"/>
          </a:p>
        </p:txBody>
      </p:sp>
      <p:sp>
        <p:nvSpPr>
          <p:cNvPr id="33" name="Text 25"/>
          <p:cNvSpPr/>
          <p:nvPr/>
        </p:nvSpPr>
        <p:spPr>
          <a:xfrm>
            <a:off x="6172200" y="3822192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Compressão reduziu payload de 6.5KB → ~500 bytes. FastHttpUser aumentou RPS do Locust.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estava errado no código original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0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1143000"/>
            <a:ext cx="4206240" cy="164592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11430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Código Antigo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1508760"/>
            <a:ext cx="40233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</a:t>
            </a: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[items, total] = </a:t>
            </a: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</a:t>
            </a:r>
            <a:r>
              <a:rPr lang="en-US" sz="12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 PokemonRepository()</a:t>
            </a: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.findAndCount()</a:t>
            </a:r>
            <a:r>
              <a:rPr lang="en-US" sz="1200" i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 // SEM LIMITES!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926080"/>
            <a:ext cx="420624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DC262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" y="2926080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2944368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1 · Sem Paginação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320040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findAndCount() sem limites traz TODOS os 100.000 registros de uma vez. Isso esgota a memória do Node.js e engarrafa a rede.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3886200"/>
            <a:ext cx="420624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DC262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3886200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3904488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2 · Sem Cache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416052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1.000 usuários pedem a mesma lista, a API faz 1.000 queries idênticas ao MySQL, mesmo com os dados inalterados.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09160" y="1051560"/>
            <a:ext cx="2011680" cy="1645920"/>
          </a:xfrm>
          <a:prstGeom prst="rect">
            <a:avLst/>
          </a:prstGeom>
          <a:solidFill>
            <a:srgbClr val="1E293B"/>
          </a:solidFill>
          <a:ln w="12700">
            <a:solidFill>
              <a:srgbClr val="DC262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709160" y="132588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4709160" y="20116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Falhas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709160" y="231343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Refused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903720" y="1051560"/>
            <a:ext cx="2011680" cy="1645920"/>
          </a:xfrm>
          <a:prstGeom prst="rect">
            <a:avLst/>
          </a:prstGeom>
          <a:solidFill>
            <a:srgbClr val="1E293B"/>
          </a:solidFill>
          <a:ln w="12700">
            <a:solidFill>
              <a:srgbClr val="DC262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903720" y="132588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6903720" y="20116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903720" y="231343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não respondia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709160" y="2971800"/>
            <a:ext cx="2011680" cy="1645920"/>
          </a:xfrm>
          <a:prstGeom prst="rect">
            <a:avLst/>
          </a:prstGeom>
          <a:solidFill>
            <a:srgbClr val="1E293B"/>
          </a:solidFill>
          <a:ln w="12700">
            <a:solidFill>
              <a:srgbClr val="D9770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09160" y="324612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4709160" y="39319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Worker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709160" y="423367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Locust sobrecarregado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903720" y="2971800"/>
            <a:ext cx="2011680" cy="1645920"/>
          </a:xfrm>
          <a:prstGeom prst="rect">
            <a:avLst/>
          </a:prstGeom>
          <a:solidFill>
            <a:srgbClr val="1E293B"/>
          </a:solidFill>
          <a:ln w="12700">
            <a:solidFill>
              <a:srgbClr val="D9770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903720" y="324612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~MB</a:t>
            </a:r>
            <a:endParaRPr lang="en-US" sz="3600" dirty="0"/>
          </a:p>
        </p:txBody>
      </p:sp>
      <p:sp>
        <p:nvSpPr>
          <p:cNvPr id="30" name="Text 28"/>
          <p:cNvSpPr/>
          <p:nvPr/>
        </p:nvSpPr>
        <p:spPr>
          <a:xfrm>
            <a:off x="6903720" y="39319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903720" y="423367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gigante por req.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1 · Paginação com take/skip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868680"/>
            <a:ext cx="5029200" cy="237744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8686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Código Novo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84048" y="1188720"/>
            <a:ext cx="47548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page  = parseInt(req.query.page)  || 1;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limit = parseInt(req.query.limit) || 50;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take  = limit &gt; 100 ? 100 : limit;</a:t>
            </a:r>
            <a:r>
              <a:rPr lang="en-US" sz="1050" i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trava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skip  = (page - 1) * take;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[items, total] = await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repository.</a:t>
            </a:r>
            <a:r>
              <a:rPr lang="en-US" sz="10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findAndCount</a:t>
            </a: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({ take, skip });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74320" y="3474720"/>
            <a:ext cx="5029200" cy="457200"/>
          </a:xfrm>
          <a:prstGeom prst="rect">
            <a:avLst/>
          </a:prstGeom>
          <a:solidFill>
            <a:srgbClr val="EEF9F7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3474720"/>
            <a:ext cx="64008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3493008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Limitação Automática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3712464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parâmetros, retorna 50 itens. Nunca mais de 100 por página.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" y="4005072"/>
            <a:ext cx="5029200" cy="457200"/>
          </a:xfrm>
          <a:prstGeom prst="rect">
            <a:avLst/>
          </a:prstGeom>
          <a:solidFill>
            <a:srgbClr val="EEF9F7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4005072"/>
            <a:ext cx="64008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40233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 de Segurança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4242816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&gt; 100 ? 100 : limit impede ataques tipo ?limit=999999.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4535424"/>
            <a:ext cx="5029200" cy="457200"/>
          </a:xfrm>
          <a:prstGeom prst="rect">
            <a:avLst/>
          </a:prstGeom>
          <a:solidFill>
            <a:srgbClr val="EEF9F7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4535424"/>
            <a:ext cx="64008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455371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Metadados para Frontend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1480" y="4773168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 inclui page, totalPages e total para paginação visual.</a:t>
            </a:r>
            <a:endParaRPr lang="en-US" sz="900" dirty="0"/>
          </a:p>
        </p:txBody>
      </p:sp>
      <p:graphicFrame>
        <p:nvGraphicFramePr>
          <p:cNvPr id="19" name="Chart 0"/>
          <p:cNvGraphicFramePr/>
          <p:nvPr/>
        </p:nvGraphicFramePr>
        <p:xfrm>
          <a:off x="5394960" y="868680"/>
          <a:ext cx="347472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Shape 17"/>
          <p:cNvSpPr/>
          <p:nvPr/>
        </p:nvSpPr>
        <p:spPr>
          <a:xfrm>
            <a:off x="5394960" y="4553712"/>
            <a:ext cx="109728" cy="12801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550408" y="4535424"/>
            <a:ext cx="3291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RPS: req/s — quanto maior, melhor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5394960" y="4736592"/>
            <a:ext cx="109728" cy="1280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550408" y="4718304"/>
            <a:ext cx="3291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(ms): 95% das respostas em até X ms — menor = melhor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5394960" y="4919472"/>
            <a:ext cx="109728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550408" y="4901184"/>
            <a:ext cx="3291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(%): erros — quanto menor, melhor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2 · Cache em Memória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914400"/>
            <a:ext cx="1828800" cy="9144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91440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Requisição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103120" y="1371600"/>
            <a:ext cx="64008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468880" y="914400"/>
            <a:ext cx="1828800" cy="9144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68880" y="91440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válido?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371600"/>
            <a:ext cx="64008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914400"/>
            <a:ext cx="182880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63440" y="91440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no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92240" y="1371600"/>
            <a:ext cx="64008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0" y="914400"/>
            <a:ext cx="1828800" cy="9144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858000" y="91440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(~2ms RAM)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383280" y="1920240"/>
            <a:ext cx="0" cy="731520"/>
          </a:xfrm>
          <a:prstGeom prst="line">
            <a:avLst/>
          </a:prstGeom>
          <a:noFill/>
          <a:ln w="19050">
            <a:solidFill>
              <a:srgbClr val="16A34A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3383280" y="2651760"/>
            <a:ext cx="3931920" cy="0"/>
          </a:xfrm>
          <a:prstGeom prst="line">
            <a:avLst/>
          </a:prstGeom>
          <a:noFill/>
          <a:ln w="19050">
            <a:solidFill>
              <a:srgbClr val="16A34A"/>
            </a:solidFill>
            <a:prstDash val="dash"/>
          </a:ln>
        </p:spPr>
        <p:txBody>
          <a:bodyPr/>
          <a:lstStyle/>
          <a:p>
            <a:r>
              <a:rPr lang="pt-BR" dirty="0"/>
              <a:t>v</a:t>
            </a:r>
          </a:p>
        </p:txBody>
      </p:sp>
      <p:sp>
        <p:nvSpPr>
          <p:cNvPr id="17" name="Text 15"/>
          <p:cNvSpPr/>
          <p:nvPr/>
        </p:nvSpPr>
        <p:spPr>
          <a:xfrm>
            <a:off x="3429000" y="1920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→ Retorna da RAM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246120" y="7112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→ vai ao banco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834640"/>
            <a:ext cx="4937760" cy="201168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74320" y="2834640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Implementação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11480" y="3154680"/>
            <a:ext cx="466344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</a:t>
            </a: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CACHE_DURATION_MS </a:t>
            </a:r>
            <a:r>
              <a:rPr lang="en-US" sz="10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10 * 1000;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</a:t>
            </a: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memoryCache </a:t>
            </a:r>
            <a:r>
              <a:rPr lang="en-US" sz="105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new </a:t>
            </a:r>
            <a:r>
              <a:rPr lang="en-US" sz="10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</a:t>
            </a: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&lt;string, {timestamp, data}&gt;();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</a:t>
            </a: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(cache válido) return </a:t>
            </a: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res.send(cached);
</a:t>
            </a:r>
            <a:endParaRPr lang="en-US" sz="1050" dirty="0"/>
          </a:p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source: 'cache_memory'  ← prova pro professor!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394960" y="2834640"/>
            <a:ext cx="182880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94960" y="2907792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1.400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5394960" y="33375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394960" y="3529584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praticamente dobrou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7406640" y="2834640"/>
            <a:ext cx="1639389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16A3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406640" y="2907792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2ms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7406640" y="33375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 Mín.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406640" y="3529584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velocidade da RAM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394960" y="3886200"/>
            <a:ext cx="182880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5394960" y="3959352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34ms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5394960" y="43891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394960" y="4581144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era 120ms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406640" y="3886200"/>
            <a:ext cx="1639389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16A3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7406640" y="3959352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2800" dirty="0"/>
          </a:p>
        </p:txBody>
      </p:sp>
      <p:sp>
        <p:nvSpPr>
          <p:cNvPr id="36" name="Text 34"/>
          <p:cNvSpPr/>
          <p:nvPr/>
        </p:nvSpPr>
        <p:spPr>
          <a:xfrm>
            <a:off x="7406640" y="43891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406640" y="4581144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erros</a:t>
            </a:r>
            <a:endParaRPr lang="en-US" sz="800" dirty="0"/>
          </a:p>
        </p:txBody>
      </p:sp>
      <p:sp>
        <p:nvSpPr>
          <p:cNvPr id="38" name="Shape 14">
            <a:extLst>
              <a:ext uri="{FF2B5EF4-FFF2-40B4-BE49-F238E27FC236}">
                <a16:creationId xmlns:a16="http://schemas.microsoft.com/office/drawing/2014/main" id="{50CCB11A-67F7-F5D0-099D-ABEF01D504D9}"/>
              </a:ext>
            </a:extLst>
          </p:cNvPr>
          <p:cNvSpPr/>
          <p:nvPr/>
        </p:nvSpPr>
        <p:spPr>
          <a:xfrm flipV="1">
            <a:off x="7315200" y="1920240"/>
            <a:ext cx="0" cy="731516"/>
          </a:xfrm>
          <a:prstGeom prst="line">
            <a:avLst/>
          </a:prstGeom>
          <a:noFill/>
          <a:ln w="19050">
            <a:solidFill>
              <a:srgbClr val="16A34A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3 · Índices no Banco de Dados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25400">
            <a:solidFill>
              <a:srgbClr val="7C3AE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868680"/>
            <a:ext cx="5029200" cy="283464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8686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Pokemon.entity.ts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1137243"/>
            <a:ext cx="47548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@Entity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('pokemon')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class 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Pokemon {</a:t>
            </a:r>
            <a:r>
              <a:rPr lang="en-US" sz="110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@Index()  </a:t>
            </a:r>
            <a:r>
              <a:rPr lang="en-US" sz="1100" i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índice </a:t>
            </a:r>
            <a:r>
              <a:rPr lang="en-US" sz="1100" i="1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name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@</a:t>
            </a:r>
            <a:r>
              <a:rPr lang="en-US" sz="110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Column()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name: </a:t>
            </a:r>
            <a:r>
              <a:rPr lang="en-US" sz="110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string;</a:t>
            </a: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@Index()  </a:t>
            </a:r>
            <a:r>
              <a:rPr lang="en-US" sz="1100" i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índice </a:t>
            </a:r>
            <a:r>
              <a:rPr lang="en-US" sz="1100" i="1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type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@</a:t>
            </a:r>
            <a:r>
              <a:rPr lang="en-US" sz="110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Column()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type: string;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3794760"/>
            <a:ext cx="5029200" cy="530352"/>
          </a:xfrm>
          <a:prstGeom prst="rect">
            <a:avLst/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3794760"/>
            <a:ext cx="64008" cy="5303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381304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Indice — Full Table Scan O(N)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402336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name = Pikachu: MySQL le LINHA POR LINHA. 1M registros = 1M leituras. Resultado: ~500ms de query.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" y="4416552"/>
            <a:ext cx="5029200" cy="530352"/>
          </a:xfrm>
          <a:prstGeom prst="rect">
            <a:avLst/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4416552"/>
            <a:ext cx="64008" cy="5303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443484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Indice — B-Tree O(log N)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1480" y="4645152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cria uma Arvore B nos bastidores — como sumario de livro. Pula direto para o registro. Resultado: ~0.1ms (5.000x mais rapido!)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94960" y="868680"/>
            <a:ext cx="1828800" cy="1325880"/>
          </a:xfrm>
          <a:prstGeom prst="rect">
            <a:avLst/>
          </a:prstGeom>
          <a:solidFill>
            <a:srgbClr val="1E293B"/>
          </a:solidFill>
          <a:ln w="12700">
            <a:solidFill>
              <a:srgbClr val="DC262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394960" y="100584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~500ms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5394960" y="158191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índice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94960" y="184708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Table Scan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315200" y="868680"/>
            <a:ext cx="1763486" cy="1325880"/>
          </a:xfrm>
          <a:prstGeom prst="rect">
            <a:avLst/>
          </a:prstGeom>
          <a:solidFill>
            <a:srgbClr val="1E293B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0" y="100584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~0.1ms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7315200" y="158191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índice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15200" y="184708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B-Tree O(log N)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394960" y="2377440"/>
            <a:ext cx="1828800" cy="1325880"/>
          </a:xfrm>
          <a:prstGeom prst="rect">
            <a:avLst/>
          </a:prstGeom>
          <a:solidFill>
            <a:srgbClr val="1E293B"/>
          </a:solidFill>
          <a:ln w="12700">
            <a:solidFill>
              <a:srgbClr val="16A3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94960" y="25146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5.000x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5394960" y="309067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Melhoria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394960" y="335584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no banco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315200" y="2377440"/>
            <a:ext cx="1763486" cy="1325880"/>
          </a:xfrm>
          <a:prstGeom prst="rect">
            <a:avLst/>
          </a:prstGeom>
          <a:solidFill>
            <a:srgbClr val="1E293B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7315200" y="25146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1.499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315200" y="309067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RPS acum.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315200" y="335584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Índices aplicados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4 · GZIP, FastHttpUser e o Paradoxo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25400">
            <a:solidFill>
              <a:srgbClr val="0369A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868680"/>
            <a:ext cx="4389120" cy="173736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86868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app.ts — GZIP Middleware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11480" y="1188720"/>
            <a:ext cx="41148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r>
              <a:rPr lang="en-US" sz="11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compression 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'compression';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app.use(</a:t>
            </a: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compression()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 </a:t>
            </a:r>
            <a:r>
              <a:rPr lang="en-US" sz="1100" i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 linha!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2743200"/>
            <a:ext cx="4389120" cy="169164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4320" y="274320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locust — FastHttpUser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3063240"/>
            <a:ext cx="41148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locust import </a:t>
            </a:r>
            <a:r>
              <a:rPr lang="en-US" sz="11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FastHttpUser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Pokemon(</a:t>
            </a: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FastHttpUser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  </a:t>
            </a:r>
            <a:r>
              <a:rPr lang="en-US" sz="1100" i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conexão reutilizada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846320" y="868680"/>
            <a:ext cx="4023360" cy="2286000"/>
          </a:xfrm>
          <a:prstGeom prst="rect">
            <a:avLst/>
          </a:prstGeom>
          <a:solidFill>
            <a:srgbClr val="1E3A5F"/>
          </a:solidFill>
          <a:ln w="19050">
            <a:solidFill>
              <a:srgbClr val="0369A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846320" y="91440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Paradoxo da Compressão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37760" y="1316736"/>
            <a:ext cx="37490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Payload: 6.5 KB → ~500 bytes  (-92%)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Porém no localhost: </a:t>
            </a:r>
            <a:r>
              <a:rPr lang="en-US" sz="1050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sobe, RPS pode cair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Cloud (banco em outra máquina):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latência de rede é o vilão → GZIP obrigatório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localhost:</a:t>
            </a:r>
            <a:r>
              <a:rPr lang="en-US" sz="1050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CPU é o gargalo → trade-off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846320" y="3291840"/>
            <a:ext cx="187452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0369A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46320" y="3337560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~500B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846320" y="3730752"/>
            <a:ext cx="1874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 GZIP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3913632"/>
            <a:ext cx="1874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 6.5 KB (-92%)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903720" y="3291840"/>
            <a:ext cx="187452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16A3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903720" y="3337560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2.481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903720" y="3730752"/>
            <a:ext cx="1874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RPS Final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903720" y="3913632"/>
            <a:ext cx="1874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FastHttpUser s/ GZIP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846320" y="4251960"/>
            <a:ext cx="187452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16A3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846320" y="4297680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846320" y="4690872"/>
            <a:ext cx="1874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46320" y="4873752"/>
            <a:ext cx="1874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erros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6903720" y="4251960"/>
            <a:ext cx="187452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0369A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03720" y="4297680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81ms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903720" y="4690872"/>
            <a:ext cx="1874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903720" y="4873752"/>
            <a:ext cx="1874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estável sob carga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HttpUser vs FastHttpUser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trocar o motor do Locust foi essencial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1005840"/>
            <a:ext cx="4114800" cy="3200400"/>
          </a:xfrm>
          <a:prstGeom prst="rect">
            <a:avLst/>
          </a:prstGeom>
          <a:solidFill>
            <a:srgbClr val="1E293B"/>
          </a:solidFill>
          <a:ln w="19050">
            <a:solidFill>
              <a:srgbClr val="D9770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005840"/>
            <a:ext cx="4114800" cy="4572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0058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HttpUser  —  O Padrão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5727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Biblioteca: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737360" y="1572768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(Python puro)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20574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Gargalo: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737360" y="205740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satura em 500–800 RPS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11480" y="254203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Consome CPU: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737360" y="2542032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— validações pesadas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1480" y="3026664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Facilidade: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37360" y="3026664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— cookies, redirects, mágica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3511296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Analogia: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737360" y="3511296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Carro popular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3858768"/>
            <a:ext cx="4114800" cy="68580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" y="393192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Pokemon(</a:t>
            </a:r>
            <a:r>
              <a:rPr lang="en-US" sz="11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HttpUser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  </a:t>
            </a:r>
            <a:r>
              <a:rPr lang="en-US" sz="1100" i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lento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54880" y="1005840"/>
            <a:ext cx="4114800" cy="3200400"/>
          </a:xfrm>
          <a:prstGeom prst="rect">
            <a:avLst/>
          </a:prstGeom>
          <a:solidFill>
            <a:srgbClr val="1E293B"/>
          </a:solidFill>
          <a:ln w="19050">
            <a:solidFill>
              <a:srgbClr val="16A3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54880" y="1005840"/>
            <a:ext cx="4114800" cy="4572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10058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FastHttpUser  —  O Motor V8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5727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Biblioteca: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217920" y="1572768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geventhttpclient (C-bindings)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20574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Capacidade: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17920" y="205740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3.000–5.000 RPS / núcleo!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254203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Consome CPU: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2542032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 — roda direto na máquina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92040" y="3026664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Facilidade: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217920" y="3026664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— mais configuração manual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3511296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Analogia: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3511296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754880" y="3858768"/>
            <a:ext cx="4114800" cy="68580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64608" y="393192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Pokemon(</a:t>
            </a: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FastHttpUser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  </a:t>
            </a:r>
            <a:r>
              <a:rPr lang="en-US" sz="1100" i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F1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274320" y="4617720"/>
            <a:ext cx="8595360" cy="457200"/>
          </a:xfrm>
          <a:prstGeom prst="rect">
            <a:avLst/>
          </a:prstGeom>
          <a:solidFill>
            <a:srgbClr val="1E3A2F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74320" y="4617720"/>
            <a:ext cx="64008" cy="4572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11480" y="4636008"/>
            <a:ext cx="8321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Dica de Engenharia: Se o RPS estacionar num número cravado e a CPU da API nao estiver em 100%, o gargalo pode ser a ferramenta de teste, nao a sua API!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185339" y="2185416"/>
            <a:ext cx="731520" cy="7315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06240" y="2194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0972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Comparativos — Todas as Otimizações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274320" y="530352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usuários simultâneos · 100.000 registros no banco · HttpUser → FastHttpUser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859536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8595360" cy="4069080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863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Métrica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Otimização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Paginação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Cache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Índices B-Tree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FastHttpUser (Final)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9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63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 (travado)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~780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~1.400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C3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~1.499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369A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~2.481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63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Falhas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C3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369A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63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P95 (ms)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Timeout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C3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369A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63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Resp. Mínima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~6ms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2ms (RAM)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C3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369A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863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Payload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~MBs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~6.5 KB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~6.5 KB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C3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~6.5 KB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369A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~6.5 KB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863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Busca /name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~500ms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~500ms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~500ms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~0.1ms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369A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~0.1ms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863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CPU Locust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C3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369A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501091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= 95% das req. respondidas em ate X ms (menor = melhor)  |  Indices B-Tree: impacto na rota GET /pokemon/:name  |  FastHttpUser: motor C, eliminou gargalo no testador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Evolução do Throughput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Requisições por Segundo (RPS) — 100 usuários simultâneos</a:t>
            </a:r>
            <a:endParaRPr lang="en-US" sz="13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274320" y="1005840"/>
          <a:ext cx="5943600" cy="3794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6400800" y="1005840"/>
            <a:ext cx="256032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DC262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400800" y="1005840"/>
            <a:ext cx="64008" cy="685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10528" y="105156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RPS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510528" y="135331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travada, 100% de falhas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400800" y="1783080"/>
            <a:ext cx="256032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00800" y="1783080"/>
            <a:ext cx="64008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10528" y="182880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780 RPS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510528" y="213055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Paginação · 0% falhas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6400800" y="2560320"/>
            <a:ext cx="256032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6A3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00800" y="2560320"/>
            <a:ext cx="64008" cy="6858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510528" y="260604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1.400 RPS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510528" y="290779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· resposta min. 2ms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400800" y="3337560"/>
            <a:ext cx="256032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00800" y="3337560"/>
            <a:ext cx="64008" cy="685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510528" y="338328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1.499 RPS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510528" y="368503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Índices B-Tree no banco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6400800" y="4114800"/>
            <a:ext cx="256032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0369A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400800" y="4114800"/>
            <a:ext cx="64008" cy="68580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510528" y="416052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2.481 RPS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6510528" y="446227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FastHttpUser · sem GZIP*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5720"/>
            <a:ext cx="731520" cy="731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274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822960"/>
            <a:ext cx="8229600" cy="0"/>
          </a:xfrm>
          <a:prstGeom prst="line">
            <a:avLst/>
          </a:prstGeom>
          <a:noFill/>
          <a:ln w="19050">
            <a:solidFill>
              <a:srgbClr val="0D9488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28600" y="960120"/>
            <a:ext cx="2834640" cy="1691640"/>
          </a:xfrm>
          <a:prstGeom prst="rect">
            <a:avLst/>
          </a:prstGeom>
          <a:solidFill>
            <a:srgbClr val="1E293B"/>
          </a:solidFill>
          <a:ln w="12700">
            <a:solidFill>
              <a:srgbClr val="DC262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28600" y="960120"/>
            <a:ext cx="64008" cy="16916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097280"/>
            <a:ext cx="347472" cy="3474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77240" y="10972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identificado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365760" y="1490472"/>
            <a:ext cx="2606040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findAndCount() sem limites com 100k registros: travamento total, 100% de falhas e saturação de CPU.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3200400" y="960120"/>
            <a:ext cx="2834640" cy="1691640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200400" y="960120"/>
            <a:ext cx="64008" cy="16916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7560" y="1097280"/>
            <a:ext cx="347472" cy="34747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749040" y="10972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Paginação (take/skip)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3337560" y="1490472"/>
            <a:ext cx="2606040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 de falhas e ~780 RPS. Trava de segurança impede ?limit=999999 derrubando o servidor.</a:t>
            </a:r>
            <a:endParaRPr lang="en-US" sz="900" dirty="0"/>
          </a:p>
        </p:txBody>
      </p:sp>
      <p:sp>
        <p:nvSpPr>
          <p:cNvPr id="16" name="Shape 11"/>
          <p:cNvSpPr/>
          <p:nvPr/>
        </p:nvSpPr>
        <p:spPr>
          <a:xfrm>
            <a:off x="6172200" y="960120"/>
            <a:ext cx="2834640" cy="1691640"/>
          </a:xfrm>
          <a:prstGeom prst="rect">
            <a:avLst/>
          </a:prstGeom>
          <a:solidFill>
            <a:srgbClr val="1E293B"/>
          </a:solidFill>
          <a:ln w="12700">
            <a:solidFill>
              <a:srgbClr val="16A3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172200" y="960120"/>
            <a:ext cx="64008" cy="16916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1097280"/>
            <a:ext cx="347472" cy="34747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720840" y="10972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em Memória</a:t>
            </a:r>
            <a:endParaRPr lang="en-US" sz="1100" dirty="0"/>
          </a:p>
        </p:txBody>
      </p:sp>
      <p:sp>
        <p:nvSpPr>
          <p:cNvPr id="20" name="Text 14"/>
          <p:cNvSpPr/>
          <p:nvPr/>
        </p:nvSpPr>
        <p:spPr>
          <a:xfrm>
            <a:off x="6309360" y="1490472"/>
            <a:ext cx="2606040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Map&lt;&gt; com TTL de 10s. RPS dobrou para ~1.400 com resposta mínima de 2ms (velocidade da RAM).</a:t>
            </a:r>
            <a:endParaRPr lang="en-US" sz="900" dirty="0"/>
          </a:p>
        </p:txBody>
      </p:sp>
      <p:sp>
        <p:nvSpPr>
          <p:cNvPr id="21" name="Shape 15"/>
          <p:cNvSpPr/>
          <p:nvPr/>
        </p:nvSpPr>
        <p:spPr>
          <a:xfrm>
            <a:off x="228600" y="2880360"/>
            <a:ext cx="2834640" cy="1691640"/>
          </a:xfrm>
          <a:prstGeom prst="rect">
            <a:avLst/>
          </a:prstGeom>
          <a:solidFill>
            <a:srgbClr val="1E293B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228600" y="2880360"/>
            <a:ext cx="64008" cy="16916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3017520"/>
            <a:ext cx="347472" cy="34747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77240" y="30175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Índices B-Tree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365760" y="3410712"/>
            <a:ext cx="2606040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@Index() em name e type. Full Table Scan O(N) → O(log N). Busca de 500ms caiu para 0.1ms.</a:t>
            </a:r>
            <a:endParaRPr lang="en-US" sz="900" dirty="0"/>
          </a:p>
        </p:txBody>
      </p:sp>
      <p:sp>
        <p:nvSpPr>
          <p:cNvPr id="26" name="Shape 19"/>
          <p:cNvSpPr/>
          <p:nvPr/>
        </p:nvSpPr>
        <p:spPr>
          <a:xfrm>
            <a:off x="3200400" y="2880360"/>
            <a:ext cx="2834640" cy="1691640"/>
          </a:xfrm>
          <a:prstGeom prst="rect">
            <a:avLst/>
          </a:prstGeom>
          <a:solidFill>
            <a:srgbClr val="1E293B"/>
          </a:solidFill>
          <a:ln w="12700">
            <a:solidFill>
              <a:srgbClr val="0369A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3200400" y="2880360"/>
            <a:ext cx="64008" cy="169164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37560" y="3017520"/>
            <a:ext cx="347472" cy="347472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3749040" y="30175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FastHttpUser + Paradoxo</a:t>
            </a:r>
            <a:endParaRPr lang="en-US" sz="1100" dirty="0"/>
          </a:p>
        </p:txBody>
      </p:sp>
      <p:sp>
        <p:nvSpPr>
          <p:cNvPr id="30" name="Text 22"/>
          <p:cNvSpPr/>
          <p:nvPr/>
        </p:nvSpPr>
        <p:spPr>
          <a:xfrm>
            <a:off x="3337560" y="3410712"/>
            <a:ext cx="2606040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GZIP: 6.5KB → ~500B (-92%), mas gerou gargalo de CPU no localhost. Removido. FastHttpUser sozinho: 2.481 RPS e 0% falhas.</a:t>
            </a:r>
            <a:endParaRPr lang="en-US" sz="900" dirty="0"/>
          </a:p>
        </p:txBody>
      </p:sp>
      <p:sp>
        <p:nvSpPr>
          <p:cNvPr id="31" name="Shape 23"/>
          <p:cNvSpPr/>
          <p:nvPr/>
        </p:nvSpPr>
        <p:spPr>
          <a:xfrm>
            <a:off x="6172200" y="2880360"/>
            <a:ext cx="2834640" cy="1691640"/>
          </a:xfrm>
          <a:prstGeom prst="rect">
            <a:avLst/>
          </a:prstGeom>
          <a:solidFill>
            <a:srgbClr val="1E293B"/>
          </a:solidFill>
          <a:ln w="12700">
            <a:solidFill>
              <a:srgbClr val="D9770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6172200" y="2880360"/>
            <a:ext cx="64008" cy="16916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33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0" y="3017520"/>
            <a:ext cx="347472" cy="347472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6720840" y="30175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no mundo real</a:t>
            </a:r>
            <a:endParaRPr lang="en-US" sz="1100" dirty="0"/>
          </a:p>
        </p:txBody>
      </p:sp>
      <p:sp>
        <p:nvSpPr>
          <p:cNvPr id="35" name="Text 26"/>
          <p:cNvSpPr/>
          <p:nvPr/>
        </p:nvSpPr>
        <p:spPr>
          <a:xfrm>
            <a:off x="6309360" y="3410712"/>
            <a:ext cx="2606040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10x menos servidores na AWS. Stack de prod: paginação + cache + índices + compressão.</a:t>
            </a:r>
            <a:endParaRPr lang="en-US" sz="900" dirty="0"/>
          </a:p>
        </p:txBody>
      </p:sp>
      <p:sp>
        <p:nvSpPr>
          <p:cNvPr id="36" name="Text 27"/>
          <p:cNvSpPr/>
          <p:nvPr/>
        </p:nvSpPr>
        <p:spPr>
          <a:xfrm>
            <a:off x="457200" y="470916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"Implementar paginação + cache transformou uma API catastrófica em uma API de produção"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1388</Words>
  <Application>Microsoft Office PowerPoint</Application>
  <PresentationFormat>Apresentação na tela (16:9)</PresentationFormat>
  <Paragraphs>261</Paragraphs>
  <Slides>11</Slides>
  <Notes>11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Consolas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Testes de Performance com Locust</dc:title>
  <dc:subject>PptxGenJS Presentation</dc:subject>
  <dc:creator>PptxGenJS</dc:creator>
  <cp:lastModifiedBy>GABRIEL VAZ AIRES</cp:lastModifiedBy>
  <cp:revision>4</cp:revision>
  <dcterms:created xsi:type="dcterms:W3CDTF">2026-05-20T22:30:34Z</dcterms:created>
  <dcterms:modified xsi:type="dcterms:W3CDTF">2026-05-23T12:49:09Z</dcterms:modified>
</cp:coreProperties>
</file>