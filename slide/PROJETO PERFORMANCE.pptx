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1" r:id="rId10"/>
    <p:sldId id="262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pt-BR" sz="1800" b="0" i="0" u="none" strike="noStrike">
                <a:solidFill>
                  <a:srgbClr val="000000"/>
                </a:solidFill>
                <a:latin typeface="Arial"/>
              </a:rPr>
              <a:t>Antes vs. Depois (Paginação)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Antes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RPS</c:v>
                </c:pt>
                <c:pt idx="1">
                  <c:v>P95 (ms)</c:v>
                </c:pt>
                <c:pt idx="2">
                  <c:v>Falhas (%)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120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17-45B8-8AA2-2F66478704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Depois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RPS</c:v>
                </c:pt>
                <c:pt idx="1">
                  <c:v>P95 (ms)</c:v>
                </c:pt>
                <c:pt idx="2">
                  <c:v>Falhas (%)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780</c:v>
                </c:pt>
                <c:pt idx="1">
                  <c:v>53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17-45B8-8AA2-2F66478704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RPS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D8F-46D8-8358-DAEDC48812C4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D8F-46D8-8358-DAEDC48812C4}"/>
              </c:ext>
            </c:extLst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D8F-46D8-8358-DAEDC48812C4}"/>
              </c:ext>
            </c:extLst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D8F-46D8-8358-DAEDC48812C4}"/>
              </c:ext>
            </c:extLst>
          </c:dPt>
          <c:dPt>
            <c:idx val="4"/>
            <c:invertIfNegative val="0"/>
            <c:bubble3D val="0"/>
            <c:spPr>
              <a:solidFill>
                <a:srgbClr val="0369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D8F-46D8-8358-DAEDC48812C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Sem otimização</c:v>
                </c:pt>
                <c:pt idx="1">
                  <c:v>Paginação</c:v>
                </c:pt>
                <c:pt idx="2">
                  <c:v>+ Cache</c:v>
                </c:pt>
                <c:pt idx="3">
                  <c:v>+ Índices</c:v>
                </c:pt>
                <c:pt idx="4">
                  <c:v>Otimizado Final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780</c:v>
                </c:pt>
                <c:pt idx="2">
                  <c:v>1400</c:v>
                </c:pt>
                <c:pt idx="3">
                  <c:v>1499</c:v>
                </c:pt>
                <c:pt idx="4">
                  <c:v>2481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D8F-46D8-8358-DAEDC48812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00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972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Performance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Locust + Node.js API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gargalos · Paginação · Cache em Memória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3566160"/>
            <a:ext cx="8229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749040"/>
            <a:ext cx="15544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749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TypeORM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48840" y="3749040"/>
            <a:ext cx="15544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48840" y="3749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40480" y="3749040"/>
            <a:ext cx="15544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0" y="3749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 2.44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32120" y="3749040"/>
            <a:ext cx="15544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32120" y="3749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23760" y="3749040"/>
            <a:ext cx="15544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23760" y="3749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Fizemos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6012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0241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Popular o Banco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8105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 Pokémons inseridos via Seed para criar um cenário realista de carga.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54680" y="96012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54680" y="960120"/>
            <a:ext cx="274320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0241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Teste Baseline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46120" y="18105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 com 100 usuários simultâneos. API travou com 100% de falhas.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80760" y="96012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80760" y="960120"/>
            <a:ext cx="274320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102412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Paginação (take/skip)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72200" y="18105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Limitamos a 50 itens por página. Falhas caíram a 0% com ~780 RPS.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28600" y="297180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28600" y="2971800"/>
            <a:ext cx="274320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9888" y="303580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74320" y="3429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Cache em Memória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20040" y="382219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Map&lt;&gt; salva resultado por 10s. RPS saltou para ~1.400 e resposta min. 2ms.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154680" y="297180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154680" y="2971800"/>
            <a:ext cx="274320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5968" y="3035808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200400" y="3429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Índices no Banco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246120" y="382219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@Index() em name e type. Full Table Scan O(N) → B-Tree O(log N). Busca de 500ms para 0.1ms.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080760" y="297180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080760" y="2971800"/>
            <a:ext cx="2743200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2048" y="3035808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126480" y="3429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GZIP + FastHttpUser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172200" y="382219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Compressão reduziu payload de 6.5KB → ~500 bytes. FastHttpUser aumentou RPS do Locust.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estava errado no código original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420624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Código Antigo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[items, total] =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</a:t>
            </a: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PokemonRepository()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.findAndCount()</a:t>
            </a:r>
            <a:r>
              <a:rPr lang="en-US" sz="12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// SEM LIMITES!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4206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92608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 · Sem Paginação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findAndCount() sem limites traz TODOS os 100.000 registros de uma vez. Isso esgota a memória do Node.js e engarrafa a rede.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886200"/>
            <a:ext cx="4206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88620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9044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 · Sem Cache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1.000 usuários pedem a mesma lista, a API faz 1.000 queries idênticas ao MySQL, mesmo com os dados inalterados.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20116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3258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70916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Falhas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3134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Refused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1051560"/>
            <a:ext cx="20116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13258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0372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23134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não respondia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971800"/>
            <a:ext cx="20116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32461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70916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Worker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42336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 sobrecarregado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03720" y="2971800"/>
            <a:ext cx="20116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03720" y="32461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~MB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90372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03720" y="42336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gigante por req.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1 · Paginação com take/skip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5029200" cy="2377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Código Novo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118872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page  = parseInt(req.query.page)  || 1;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limit = parseInt(req.query.limit) || 50;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take  = limit &gt; 100 ? 100 : limit;</a:t>
            </a:r>
            <a:r>
              <a:rPr lang="en-US" sz="10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trava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skip  = (page - 1) * take;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[items, total] = await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repository.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findAndCount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take, skip });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5029200" cy="457200"/>
          </a:xfrm>
          <a:prstGeom prst="rect">
            <a:avLst/>
          </a:prstGeom>
          <a:solidFill>
            <a:srgbClr val="EEF9F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3474720"/>
            <a:ext cx="6400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4930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 Automática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71246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parâmetros, retorna 50 itens. Nunca mais de 100 por página.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4005072"/>
            <a:ext cx="5029200" cy="457200"/>
          </a:xfrm>
          <a:prstGeom prst="rect">
            <a:avLst/>
          </a:prstGeom>
          <a:solidFill>
            <a:srgbClr val="EEF9F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4005072"/>
            <a:ext cx="6400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023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 de Segurança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24281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&gt; 100 ? 100 : limit impede ataques tipo ?limit=999999.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4535424"/>
            <a:ext cx="5029200" cy="457200"/>
          </a:xfrm>
          <a:prstGeom prst="rect">
            <a:avLst/>
          </a:prstGeom>
          <a:solidFill>
            <a:srgbClr val="EEF9F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4535424"/>
            <a:ext cx="6400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553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para Frontend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77316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inclui page, totalPages e total para paginação visual.</a:t>
            </a:r>
            <a:endParaRPr lang="en-US" sz="9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5394960" y="868680"/>
          <a:ext cx="34747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5394960" y="4553712"/>
            <a:ext cx="109728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50408" y="453542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RPS: req/s — quanto maior, melhor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394960" y="4736592"/>
            <a:ext cx="109728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50408" y="471830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(ms): 95% das respostas em até X ms — menor = melhor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394960" y="4919472"/>
            <a:ext cx="109728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50408" y="490118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(%): erros — quanto menor, melhor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2 · Cache em Memória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18288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137160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914400"/>
            <a:ext cx="182880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14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14400"/>
            <a:ext cx="1828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914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137160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914400"/>
            <a:ext cx="182880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914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(~2ms RAM)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1920240"/>
            <a:ext cx="0" cy="731520"/>
          </a:xfrm>
          <a:prstGeom prst="line">
            <a:avLst/>
          </a:prstGeom>
          <a:noFill/>
          <a:ln w="19050">
            <a:solidFill>
              <a:srgbClr val="16A34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383280" y="2651760"/>
            <a:ext cx="393192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42900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→ Retorna da RAM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46120" y="7112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→ vai ao banco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493776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28346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Implementação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154680"/>
            <a:ext cx="4663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CACHE_DURATION_MS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10 * 1000;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memoryCache </a:t>
            </a: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new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&lt;string, {timestamp, data}&gt;();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(cache válido) return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res.send(cached);
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source: 'cache_memory'  ← prova pro professor!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94960" y="2834640"/>
            <a:ext cx="1828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0" y="29077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1.400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394960" y="3337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94960" y="35295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praticamente dobrou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406640" y="2834640"/>
            <a:ext cx="1828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06640" y="29077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2ms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406640" y="3337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Mín.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06640" y="35295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da RAM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94960" y="3886200"/>
            <a:ext cx="1828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394960" y="395935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34ms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394960" y="4389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45811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era 120ms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3886200"/>
            <a:ext cx="1828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06640" y="395935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406640" y="4389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06640" y="45811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erros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3 · Índices no Banco de Dados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5029200" cy="283464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Pokemon.entity.ts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137243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('pokemon')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Pokemon {</a:t>
            </a:r>
            <a:r>
              <a:rPr lang="en-US" sz="11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@Index()  </a:t>
            </a:r>
            <a:r>
              <a:rPr lang="en-US" sz="11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índice </a:t>
            </a:r>
            <a:r>
              <a:rPr lang="en-US" sz="1100" i="1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</a:t>
            </a:r>
            <a:r>
              <a:rPr lang="en-US" sz="11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</a:t>
            </a:r>
            <a:r>
              <a:rPr lang="en-US" sz="11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string;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@Index()  </a:t>
            </a:r>
            <a:r>
              <a:rPr lang="en-US" sz="11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índice </a:t>
            </a:r>
            <a:r>
              <a:rPr lang="en-US" sz="1100" i="1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type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</a:t>
            </a:r>
            <a:r>
              <a:rPr lang="en-US" sz="11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string;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3794760"/>
            <a:ext cx="502920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3794760"/>
            <a:ext cx="64008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81304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Indice — Full Table Scan O(N)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40233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name = Pikachu: MySQL le LINHA POR LINHA. 1M registros = 1M leituras. Resultado: ~500ms de query.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4416552"/>
            <a:ext cx="5029200" cy="530352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4416552"/>
            <a:ext cx="64008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4348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Indice — B-Tree O(log N)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64515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cria uma Arvore B nos bastidores — como sumario de livro. Pula direto para o registro. Resultado: ~0.1ms (5.000x mais rapido!)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94960" y="868680"/>
            <a:ext cx="18288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94960" y="1005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~500ms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394960" y="1581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índice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94960" y="1847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Table Scan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0" y="868680"/>
            <a:ext cx="18288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005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~0.1ms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315200" y="1581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índice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1847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O(log N)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394960" y="2377440"/>
            <a:ext cx="18288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94960" y="2514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5.000x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394960" y="3090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4960" y="3355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no banco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315200" y="2377440"/>
            <a:ext cx="18288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0" y="2514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1.499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315200" y="3090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acum.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0" y="3355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Índices aplicados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4 · GZIP, FastHttpUser e o Paradoxo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438912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app.ts — GZIP Middleware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compression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'compression';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compression()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r>
              <a:rPr lang="en-US" sz="11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linha!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743200"/>
            <a:ext cx="438912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7432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locust — FastHttpUser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3063240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locust import </a:t>
            </a: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FastHttpUser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Pokemon(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FastHttpUser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 </a:t>
            </a:r>
            <a:r>
              <a:rPr lang="en-US" sz="11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conexão reutilizada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868680"/>
            <a:ext cx="4023360" cy="2286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Paradoxo da Compressão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316736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 6.5 KB → ~500 bytes  (-92%)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Porém no localhost: </a:t>
            </a:r>
            <a:r>
              <a:rPr lang="en-US" sz="10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sobe, RPS pode cair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Cloud (banco em outra máquina):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de rede é o vilão → GZIP obrigatório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localhost:</a:t>
            </a:r>
            <a:r>
              <a:rPr lang="en-US" sz="10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CPU é o gargalo → trade-off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291840"/>
            <a:ext cx="18745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33375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46320" y="373075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GZIP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3913632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6.5 KB (-92%)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903720" y="3291840"/>
            <a:ext cx="18745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33375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2.481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03720" y="373075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Final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03720" y="3913632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FastHttpUser s/ GZIP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846320" y="4251960"/>
            <a:ext cx="18745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429768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46320" y="46908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4873752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erros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903720" y="4251960"/>
            <a:ext cx="18745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03720" y="429768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81ms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03720" y="46908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03720" y="4873752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 sob carga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HttpUser vs FastHttpUser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trocar o motor do Locust foi essencial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HttpUser  —  O Padrão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5727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(Python puro)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574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satura em 500–800 RPS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542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Consome CPU: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25420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— validações pesadas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0266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30266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— cookies, redirects, mágica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5112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351129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 popular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858768"/>
            <a:ext cx="41148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931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Pokemon(</a:t>
            </a: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HttpUser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 </a:t>
            </a:r>
            <a:r>
              <a:rPr lang="en-US" sz="11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lento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4114800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FastHttpUser  —  O Motor V8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5727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15727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geventhttpclient (C-bindings)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0574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3.000–5.000 RPS / núcleo!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542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Consome CPU: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25420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— roda direto na máquina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0266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Facilidade: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30266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— mais configuração manual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5112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351129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858768"/>
            <a:ext cx="41148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931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Pokemon(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FastHttpUser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 </a:t>
            </a:r>
            <a:r>
              <a:rPr lang="en-US" sz="11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solidFill>
            <a:srgbClr val="1E3A2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617720"/>
            <a:ext cx="64008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636008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Engenharia: Se o RPS estacionar num número cravado e a CPU da API nao estiver em 100%, o gargalo pode ser a ferramenta de teste, nao a sua API!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85339" y="2185416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Comparativos — Todas as Otimizações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5303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usuários simultâneos · 100.000 registros no banco · HttpUser → FastHttpUser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406908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8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Otimização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Paginação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Cache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Índices B-Tree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FastHttpUser (Final)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 (travado)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~1.499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~2.481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Falhas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(ms)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Resp. Mínima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2ms (RAM)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~MBs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~6.5 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~6.5 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~6.5 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~6.5 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/name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Locust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5010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= 95% das req. respondidas em ate X ms (menor = melhor)  |  Indices B-Tree: impacto na rota GET /pokemon/:name  |  FastHttpUser: motor C, eliminou gargalo no testador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Throughput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por Segundo (RPS) — 100 usuários simultâneos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9436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005840"/>
            <a:ext cx="25603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0" y="1005840"/>
            <a:ext cx="64008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0528" y="10515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RPS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10528" y="1353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travada, 100% de falhas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0" y="1783080"/>
            <a:ext cx="25603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783080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0528" y="18288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780 RPS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10528" y="2130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Paginação · 0% falhas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00800" y="2560320"/>
            <a:ext cx="25603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2560320"/>
            <a:ext cx="64008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10528" y="26060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1.400 RPS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10528" y="29077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· resposta min. 2ms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0" y="3337560"/>
            <a:ext cx="25603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0" y="3337560"/>
            <a:ext cx="64008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10528" y="3383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1.499 RPS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510528" y="3685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B-Tree no banco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00800" y="4114800"/>
            <a:ext cx="25603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0" y="4114800"/>
            <a:ext cx="64008" cy="685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10528" y="4160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2.481 RPS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10528" y="4462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FastHttpUser · sem GZIP*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57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960120"/>
            <a:ext cx="283464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960120"/>
            <a:ext cx="64008" cy="1691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9728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1097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identificado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65760" y="1490472"/>
            <a:ext cx="2606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findAndCount() sem limites com 100k registros: travamento total, 100% de falhas e saturação de CPU.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00400" y="960120"/>
            <a:ext cx="283464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96012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109728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49040" y="1097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Paginação (take/skip)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337560" y="1490472"/>
            <a:ext cx="2606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de falhas e ~780 RPS. Trava de segurança impede ?limit=999999 derrubando o servidor.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172200" y="960120"/>
            <a:ext cx="283464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72200" y="960120"/>
            <a:ext cx="64008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09728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20840" y="1097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em Memória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309360" y="1490472"/>
            <a:ext cx="2606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Map&lt;&gt; com TTL de 10s. RPS dobrou para ~1.400 com resposta mínima de 2ms (velocidade da RAM).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228600" y="2880360"/>
            <a:ext cx="283464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228600" y="2880360"/>
            <a:ext cx="64008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01752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7240" y="3017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B-Tree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65760" y="3410712"/>
            <a:ext cx="2606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@Index() em name e type. Full Table Scan O(N) → O(log N). Busca de 500ms caiu para 0.1ms.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3200400" y="2880360"/>
            <a:ext cx="283464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200400" y="2880360"/>
            <a:ext cx="64008" cy="16916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3017520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749040" y="3017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FastHttpUser + Paradoxo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3337560" y="3410712"/>
            <a:ext cx="2606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GZIP: 6.5KB → ~500B (-92%), mas gerou gargalo de CPU no localhost. Removido. FastHttpUser sozinho: 2.481 RPS e 0% falhas.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6172200" y="2880360"/>
            <a:ext cx="283464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172200" y="2880360"/>
            <a:ext cx="64008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3017520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720840" y="3017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no mundo real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6309360" y="3410712"/>
            <a:ext cx="2606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menos servidores na AWS. Stack de prod: paginação + cache + índices + compressão.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"Implementar paginação + cache transformou uma API catastrófica em uma API de produção"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1381</Words>
  <Application>Microsoft Office PowerPoint</Application>
  <PresentationFormat>Apresentação na tela (16:9)</PresentationFormat>
  <Paragraphs>258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de Performance com Locust</dc:title>
  <dc:subject>PptxGenJS Presentation</dc:subject>
  <dc:creator>PptxGenJS</dc:creator>
  <cp:lastModifiedBy>Gabriel Aires</cp:lastModifiedBy>
  <cp:revision>2</cp:revision>
  <dcterms:created xsi:type="dcterms:W3CDTF">2026-05-20T22:30:34Z</dcterms:created>
  <dcterms:modified xsi:type="dcterms:W3CDTF">2026-05-20T23:09:47Z</dcterms:modified>
</cp:coreProperties>
</file>